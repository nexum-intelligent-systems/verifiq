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0" cy="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6576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1440" y="6583680"/>
            <a:ext cx="-365760" cy="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6583680"/>
            <a:ext cx="0" cy="-36576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PRE-SEED DECK · CONFIDENTIAL · MMXXVI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VerifIQ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reading aid for Irish design teams.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Source-quoted findings on tender packs and design documents. Chartered-reviewer-gated. Indicative output — the registered designer verifies locally and signs.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Liam Doolan · Founder · GovIQ Ltd · hello@verifiq.ie · Dublin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02 ·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Irish tender packs ship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critical defects.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Public-sector capital projects in Ireland routinely tender packs containing material defects — blank dates, contract-form mismatches, standards typos, cross-document contradictions. The defects become six-figure variations post-award.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2103120" cy="173736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Blank Date for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Substantial Completion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LDs unenforceable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4114800"/>
            <a:ext cx="2103120" cy="173736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BCAR doc for D&amp;B,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PW-CF5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route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4114800"/>
            <a:ext cx="2103120" cy="173736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Hoist named differently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3 documents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mismatch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4114800"/>
            <a:ext cx="2103120" cy="173736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"I.S. EN 10101"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exist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 typo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92640" y="4114800"/>
            <a:ext cx="2103120" cy="173736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Cause-and-effect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not appended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298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scope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03 ·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ran one pack.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found 327 issues.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Stage 2C public-sector tender pack. 161 documents across five disciplines. 38 hours end-to-end. Released to the design team three weeks before tender.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194560" cy="18288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3566160"/>
            <a:ext cx="2194560" cy="18288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23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718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3566160"/>
            <a:ext cx="2194560" cy="18288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8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30352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3566160"/>
            <a:ext cx="2194560" cy="18288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€270k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63524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ceiling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0" y="3566160"/>
            <a:ext cx="2194560" cy="18288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4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38h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96696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"Date for Substantial Completion: ____________"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of Tender · Schedule Part 1 · §4.2 · Page 12 — verbatim from the pack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04 ·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VerifIQ.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software-based reading aid for tender packs. Reads against the live Irish corpus (I.S. · TGD · BCAR · CWMF · PW-CF). Surfaces, in the documents' own words, what the registered professional may wish to read closely.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Source-Quoted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the verbatim sentence from the document. No paraphrase. No invention.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9768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Chartered-Gated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5212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Reviewer-signed audit log on every paid pack. Human-in-loop is the product.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 Exposure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0" y="52120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certify. The registered designer verifies locally. The professional indemnity stays theirs.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05 ·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bench to scan, in five strikes.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560320"/>
            <a:ext cx="548640" cy="54864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Magic-link 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discipline · ZIP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28600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560320"/>
            <a:ext cx="548640" cy="54864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&amp; 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572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560320"/>
            <a:ext cx="548640" cy="54864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Per-discipline read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4572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Source-quote verified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2103120" cy="32004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560320"/>
            <a:ext cx="548640" cy="548640"/>
          </a:xfrm>
          <a:prstGeom prst="ellipse">
            <a:avLst/>
          </a:prstGeom>
          <a:solidFill>
            <a:srgbClr val="B8945A"/>
          </a:solidFill>
          <a:ln w="12700">
            <a:solidFill>
              <a:srgbClr val="B894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Chartered gate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4572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· Dublin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92640" y="228600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9880" y="2560320"/>
            <a:ext cx="548640" cy="548640"/>
          </a:xfrm>
          <a:prstGeom prst="ellipse">
            <a:avLst/>
          </a:prstGeom>
          <a:solidFill>
            <a:srgbClr val="F5F1EB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84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&amp; RFIs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0" y="4572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· DOCX · audit 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strike is a hand-pass — through the pack, against a corpus, ending in a chartered eye.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06 · LOCKED POSTURE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 not.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legal posture is locked into the product. Reviewed by counsel across six jurisdictions. Cannot be moved without solicitor review.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486400" cy="3108960"/>
          </a:xfrm>
          <a:prstGeom prst="rect">
            <a:avLst/>
          </a:prstGeom>
          <a:solidFill>
            <a:srgbClr val="FAF7F1"/>
          </a:solidFill>
          <a:ln w="12700">
            <a:solidFill>
              <a:srgbClr val="4A6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 documents against the Irish corpus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Surface findings with verbatim source quotes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Pass each pack through a chartered reviewer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Stamp an audit log with reviewer initials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Carry product-quality risk only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Hold customer data in EU residency (Dublin)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Delete documents at 14 days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3017520"/>
            <a:ext cx="5486400" cy="3108960"/>
          </a:xfrm>
          <a:prstGeom prst="rect">
            <a:avLst/>
          </a:prstGeom>
          <a:solidFill>
            <a:srgbClr val="FAF7F1"/>
          </a:solidFill>
          <a:ln w="12700">
            <a:solidFill>
              <a:srgbClr val="B23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 NOT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36118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Certify any design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 as Assigned Certifier or Design Certifier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Issue a professional opinion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Substitute for the chartered designer's judgement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Take on duty-holder status under any Act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Train any AI model on customer documents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Carry professional indemnity for the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07 ·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products. One method.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source-quoted read behind each. The point of entry changes with the role.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0" cy="36576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517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· Verify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design 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Multi-discipline pre-tender read. The flagship.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623560"/>
            <a:ext cx="329184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€290 · €2.8k seat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3657600" cy="36576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6517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8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2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Hunt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Hunt.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contractors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Pre-pricing variation exposure read.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5623560"/>
            <a:ext cx="3291840" cy="0"/>
          </a:xfrm>
          <a:prstGeom prst="line">
            <a:avLst/>
          </a:prstGeom>
          <a:noFill/>
          <a:ln w="6350">
            <a:solidFill>
              <a:srgbClr val="C28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€290 · €5.8k seat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468880"/>
            <a:ext cx="3657600" cy="36576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6517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 · Studio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Studio.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4124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the sole practitioner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434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discipline. One pack. Lighter touch.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5623560"/>
            <a:ext cx="3291840" cy="0"/>
          </a:xfrm>
          <a:prstGeom prst="line">
            <a:avLst/>
          </a:prstGeom>
          <a:noFill/>
          <a:ln w="6350">
            <a:solidFill>
              <a:srgbClr val="4A6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€290 · €2.8k seat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08 ·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Ireland first.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markets, sequenced.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Construction-document review is not internationally portable as software. It is portable as method — where a chartered local reviewer panel will stand behind that method in market.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3273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32735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69880" y="3273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398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Ireland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758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MMXXVI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375818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 chartered design firms · €500m+ tender-review 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69880" y="37581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11064240" cy="365760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23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4142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MMXXVII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41422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 firms · BSA 2022 tailwind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69880" y="41422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11064240" cy="365760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079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 (NSW + VIC)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MMXXVIII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4526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~8,000 firms · DBP Act 2020 tailwind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69880" y="4526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855464"/>
            <a:ext cx="11064240" cy="365760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92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 (ON + QC)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17520" y="4910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MMXXVIII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49103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 firms · provincial QP regimes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6988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39512"/>
            <a:ext cx="11064240" cy="365760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760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(DE + NL)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5294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MMXXIX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52943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~45,000 firms · AI Act framework live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69880" y="5294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660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 (NY + CA)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017520" y="5678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MMXXIX-MMXXX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567842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State-by-state · partner-led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469880" y="56784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Y4-5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09 · 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tiers. Per pack or annual seat.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taster per quarter. Early-pilot 30% off first ten practices. No discounting after.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&lt;50 docs · 1 disc.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155448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pack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1554480" cy="0"/>
          </a:xfrm>
          <a:prstGeom prst="line">
            <a:avLst/>
          </a:prstGeom>
          <a:noFill/>
          <a:ln w="3175">
            <a:solidFill>
              <a:srgbClr val="6B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€2.8k/yr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486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seat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34640" y="246888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926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50-150 · 1-3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4069080"/>
            <a:ext cx="155448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€590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2608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pack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5074920"/>
            <a:ext cx="1554480" cy="0"/>
          </a:xfrm>
          <a:prstGeom prst="line">
            <a:avLst/>
          </a:prstGeom>
          <a:noFill/>
          <a:ln w="3175">
            <a:solidFill>
              <a:srgbClr val="6B6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€5.8k/yr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26080" y="5486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seat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0" y="2468880"/>
            <a:ext cx="2103120" cy="3200400"/>
          </a:xfrm>
          <a:prstGeom prst="rect">
            <a:avLst/>
          </a:prstGeom>
          <a:solidFill>
            <a:srgbClr val="FAF7F1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212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150-600 · full team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4069080"/>
            <a:ext cx="155448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€890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1208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94960" y="5074920"/>
            <a:ext cx="1554480" cy="0"/>
          </a:xfrm>
          <a:prstGeom prst="line">
            <a:avLst/>
          </a:prstGeom>
          <a:noFill/>
          <a:ln w="3175">
            <a:solidFill>
              <a:srgbClr val="6B6B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€11.4k/yr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12080" y="5486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seat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06640" y="246888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498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980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600-1,500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80960" y="4069080"/>
            <a:ext cx="155448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€1,950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9808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5074920"/>
            <a:ext cx="1554480" cy="0"/>
          </a:xfrm>
          <a:prstGeom prst="line">
            <a:avLst/>
          </a:prstGeom>
          <a:noFill/>
          <a:ln w="3175">
            <a:solidFill>
              <a:srgbClr val="6B6B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€19.8k/yr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98080" y="5486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seat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692640" y="2468880"/>
            <a:ext cx="2103120" cy="32004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0" y="2606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9784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840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&gt;1,500 · by arr.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966960" y="4069080"/>
            <a:ext cx="155448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€2.5k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784080" y="4709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pack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966960" y="5074920"/>
            <a:ext cx="1554480" cy="0"/>
          </a:xfrm>
          <a:prstGeom prst="line">
            <a:avLst/>
          </a:prstGeom>
          <a:noFill/>
          <a:ln w="3175">
            <a:solidFill>
              <a:srgbClr val="6B6B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8408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€36k/yr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784080" y="5486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seat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margin (Tier III, list price): €890 - €28 compute - €75 specialist = €787 (88%)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10 · 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going.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103120" cy="3657600"/>
          </a:xfrm>
          <a:prstGeom prst="rect">
            <a:avLst/>
          </a:prstGeom>
          <a:solidFill>
            <a:srgbClr val="FAF7F1"/>
          </a:solidFill>
          <a:ln w="19050">
            <a:solidFill>
              <a:srgbClr val="B89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182880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Platform built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Locked legal posture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Website + brief request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327-finding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468880"/>
            <a:ext cx="2103120" cy="36576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3383280"/>
            <a:ext cx="182880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38862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Phase 2 legal pack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Tech E&amp;O rider bound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paid customer eligible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468880"/>
            <a:ext cx="2103120" cy="36576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3383280"/>
            <a:ext cx="182880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38862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3-6 paying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Case study published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Panel chair retained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annual seat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468880"/>
            <a:ext cx="2103120" cy="36576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3383280"/>
            <a:ext cx="182880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38862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10-15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Seed raise 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UK panel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€110k+ ARR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92640" y="2468880"/>
            <a:ext cx="2103120" cy="365760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298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2027-28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29800" y="3383280"/>
            <a:ext cx="182880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29800" y="38862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UK launch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hire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€540k ARR target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11 ·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+ forming panel.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Solo-reviewer phase by design. Discipline specialists join the cohort sequentially — honest about the position, named in the audit log.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029200" cy="3474720"/>
          </a:xfrm>
          <a:prstGeom prst="rect">
            <a:avLst/>
          </a:prstGeom>
          <a:solidFill>
            <a:srgbClr val="FAF7F1"/>
          </a:solidFill>
          <a:ln w="19050">
            <a:solidFill>
              <a:srgbClr val="B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· REVIEWER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Liam Doolan.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Director, GovIQ Ltd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in Irish public-sector capital delivery. Background in procurement governance, CWMF / PW-CF compliance, and tender-pack coordination across HSE, OPW, and local-authority capital programmes. The reviewer signing every pilot pack.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560320"/>
            <a:ext cx="5852160" cy="347472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· JOINING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063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specialists.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858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RIAI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 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4343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361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· CEng C&amp;S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0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 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M&amp;E · CEng MEP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 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5349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5367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· FSE / IFSE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5394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 Q4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12 · WHY VERIFIQ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not.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categories we deliberately do not occupy — and what we do instead.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18872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AI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· Claude · Gemini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2880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Irish corpus. No reviewer. No defensible posture.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2880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corpus. Chartered review. Locked posture.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118872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vendor compliance add-ons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Autodesk · Bentley addons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886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4160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one design tool. Closed format.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3886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160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pack the team produces. Tool-agnostic.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F5F1EB"/>
          </a:solidFill>
          <a:ln w="6350">
            <a:solidFill>
              <a:srgbClr val="1A1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consultancy review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Specialist consultants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5166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3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5440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€8-15k per pack · 2-4 week turnaround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5166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6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5440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€290-2,500 per pack · 24-72 hours · same chartered eye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4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13 · FINANCIALS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· Year 2 · Year 3.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VerifIQ inside GovIQ — incremental only. Conservative customer ramp. Solo-reviewer phase saves €50-60k year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206240" cy="36576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2377440"/>
            <a:ext cx="2286000" cy="36576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 (26-27)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2377440"/>
            <a:ext cx="2286000" cy="36576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 (27-28)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0" y="2377440"/>
            <a:ext cx="2286000" cy="365760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 (28-29)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420624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 (EoY)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743200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2743200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090672"/>
            <a:ext cx="420624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363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seats sold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090672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36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0" y="3090672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136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26880" y="3090672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3136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438144"/>
            <a:ext cx="420624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838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 revenue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438144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83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€32k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3438144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483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€85k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26880" y="3438144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3483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€180k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785616"/>
            <a:ext cx="420624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313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seat revenue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785616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831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€23k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040880" y="3785616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3831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€140k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326880" y="3785616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0" y="3831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€365k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4133088"/>
            <a:ext cx="420624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178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4133088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1788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€55k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40880" y="4133088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41788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€225k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326880" y="4133088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8320" y="41788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€545k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4480560"/>
            <a:ext cx="420624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4480560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(€6k)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040880" y="4480560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(€10k)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326880" y="4480560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1832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(€22k)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" y="4828032"/>
            <a:ext cx="420624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4873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(legal · insurance · marketing · infra)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54880" y="4828032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4873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(€17k)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040880" y="4828032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0" y="4873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(€22k)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326880" y="4828032"/>
            <a:ext cx="2286000" cy="347472"/>
          </a:xfrm>
          <a:prstGeom prst="rect">
            <a:avLst/>
          </a:prstGeom>
          <a:solidFill>
            <a:srgbClr val="FAF7F1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18320" y="4873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(€42k)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48640" y="5175504"/>
            <a:ext cx="420624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221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contractor (post-seed)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754880" y="5175504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5221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040880" y="5175504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5221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(€32k)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326880" y="5175504"/>
            <a:ext cx="2286000" cy="347472"/>
          </a:xfrm>
          <a:prstGeom prst="rect">
            <a:avLst/>
          </a:prstGeom>
          <a:solidFill>
            <a:srgbClr val="F5F1EB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18320" y="52212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(€65k)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48640" y="5522976"/>
            <a:ext cx="420624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5568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754880" y="5522976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5568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€32k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7040880" y="5522976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32320" y="5568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€161k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9326880" y="5522976"/>
            <a:ext cx="2286000" cy="347472"/>
          </a:xfrm>
          <a:prstGeom prst="rect">
            <a:avLst/>
          </a:prstGeom>
          <a:solidFill>
            <a:srgbClr val="E8E2D5"/>
          </a:solidFill>
          <a:ln w="3175">
            <a:solidFill>
              <a:srgbClr val="6B6B7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18320" y="5568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1A1A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€416k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economics held by Anthropic / OpenAI prompt cache (~70% saving on system prompts). Unit margin 88% Tier III list. Cumulative net positive month 9.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14 · THE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Seed: €2m.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9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Month 9 — after pre-seed proves the gates.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0" cy="3108960"/>
          </a:xfrm>
          <a:prstGeom prst="rect">
            <a:avLst/>
          </a:prstGeom>
          <a:solidFill>
            <a:srgbClr val="252530"/>
          </a:solidFill>
          <a:ln w="6350">
            <a:solidFill>
              <a:srgbClr val="B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63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PROCEEDS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 + first engineer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3520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€220k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partnerships hire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3794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€75k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 (full 11 seats)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4069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€75k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entry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43434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€250k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licensing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617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€80k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content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892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€80k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insurance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5166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€50k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5440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€60k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contingency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5715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€110k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926080"/>
            <a:ext cx="5486400" cy="3108960"/>
          </a:xfrm>
          <a:prstGeom prst="rect">
            <a:avLst/>
          </a:prstGeom>
          <a:solidFill>
            <a:srgbClr val="252530"/>
          </a:solidFill>
          <a:ln w="6350">
            <a:solidFill>
              <a:srgbClr val="B89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063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GATING CONDITIONS (MET BY M9)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5204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10-15 paying Irish customers at Tier II+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Panel chair operational; 4 specialists in pipeline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POC scan pipeline running on live packs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€110k+ ARR run-rate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UK reviewer pipeline named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Tech E&amp;O at €2m bound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€250k SAFE bridges Month 0-9.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€8m targeted at Month 24.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· A GovIQ Ltd product ·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0" cy="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6576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21440" y="6583680"/>
            <a:ext cx="-365760" cy="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6583680"/>
            <a:ext cx="0" cy="-365760"/>
          </a:xfrm>
          <a:prstGeom prst="line">
            <a:avLst/>
          </a:prstGeom>
          <a:noFill/>
          <a:ln w="19050">
            <a:solidFill>
              <a:srgbClr val="B89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9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THE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chartered eye, augmented.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2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replaced. Augmented. Faster, source-quoted, audit-logged. Held in EU residency. Backed by Irish chartered reviewers. Expanded only into markets where the same posture can stand.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6350">
            <a:solidFill>
              <a:srgbClr val="B89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Liam Doolan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 · GovIQ Ltd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5166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liam@goviq.ie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5532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4B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verifiq.ie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5897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Dublin · MMXXVI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8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VerifIQ is a software-based reading aid. It does not certify, sign, opine, or substitute for professional judgement.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GovIQ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VerifIQ — Pre-Seed Deck</dc:title>
  <dc:subject>PptxGenJS Presentation</dc:subject>
  <dc:creator>Liam Doolan</dc:creator>
  <cp:lastModifiedBy>Liam Doolan</cp:lastModifiedBy>
  <cp:revision>1</cp:revision>
  <dcterms:created xsi:type="dcterms:W3CDTF">2026-06-01T22:52:57Z</dcterms:created>
  <dcterms:modified xsi:type="dcterms:W3CDTF">2026-06-01T22:52:57Z</dcterms:modified>
</cp:coreProperties>
</file>